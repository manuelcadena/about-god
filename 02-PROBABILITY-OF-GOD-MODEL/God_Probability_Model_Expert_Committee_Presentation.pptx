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 snapToObjects="1">
      <p:cViewPr varScale="1">
        <p:scale>
          <a:sx n="107" d="100"/>
          <a:sy n="107" d="100"/>
        </p:scale>
        <p:origin x="2304" y="4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The Evidence for God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Probabilistic Model of Divine Existence and the Role of Moral Evil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Develop a Bayesian logistic model estimating P(God)</a:t>
            </a:r>
          </a:p>
          <a:p>
            <a:r>
              <a:t>• Integrate eight philosophical, empirical, and scientific variables</a:t>
            </a:r>
          </a:p>
          <a:p>
            <a:r>
              <a:t>• Use Monte Carlo simulation and decision tree to model uncertainty</a:t>
            </a:r>
          </a:p>
          <a:p>
            <a:r>
              <a:t>• Assess role of moral evil as both neutral and negative evidence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Eight evidential variables: FT, MO, CG, RE, EV, BC, QM, MN</a:t>
            </a:r>
          </a:p>
          <a:p>
            <a:r>
              <a:t>• Logistic regression + Monte Carlo simulation (100,000 trials)</a:t>
            </a:r>
          </a:p>
          <a:p>
            <a:r>
              <a:t>• Variables justified by peer-reviewed literature and philosophical arguments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Monte Carlo Results – Main Model (EV Neutral)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Median P(God) ≈ 98.6%</a:t>
            </a:r>
          </a:p>
          <a:p>
            <a:r>
              <a:t>• Mean P(God) ≈ 94.6%</a:t>
            </a:r>
          </a:p>
          <a:p>
            <a:r>
              <a:t>• P(God) &gt; 90% in ~85% of simulations</a:t>
            </a:r>
          </a:p>
          <a:p>
            <a:r>
              <a:t>• P(God) &lt; 50% in &lt;1.3% of simulations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Figure 1: Posterior Probability Distribution (Main Model)</a:t>
            </a:r>
          </a:p>
        </p:txBody>
      </p:sp>
      <p:pic>
        <p:nvPicPr>
          <p:cNvPr id="3" name="Picture 2" descr="Figure1_PGod_Distribution_Main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771" y="1952303"/>
            <a:ext cx="73152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C – Moral Evil as Negative Evidence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β_EV ~ Uniform(–1.5, –0.5)</a:t>
            </a:r>
          </a:p>
          <a:p>
            <a:r>
              <a:t>• Median P(God) ≈ 95–97%</a:t>
            </a:r>
          </a:p>
          <a:p>
            <a:r>
              <a:t>• Mean P(God) ≈ 90–92%</a:t>
            </a:r>
          </a:p>
          <a:p>
            <a:r>
              <a:t>• Still favors theism in &gt;95% of cases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Figure 3: Comparison – EV Neutral vs. EV Negative</a:t>
            </a:r>
          </a:p>
        </p:txBody>
      </p:sp>
      <p:pic>
        <p:nvPicPr>
          <p:cNvPr id="3" name="Picture 2" descr="PGod_Distributio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Figure 2: Decision Tree — Evidence Paths</a:t>
            </a:r>
          </a:p>
        </p:txBody>
      </p:sp>
      <p:pic>
        <p:nvPicPr>
          <p:cNvPr id="3" name="Picture 2" descr="Figure2_Decision_Tree_Theism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18764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Figure 4: Variable Sensitivity</a:t>
            </a:r>
          </a:p>
        </p:txBody>
      </p:sp>
      <p:pic>
        <p:nvPicPr>
          <p:cNvPr id="3" name="Picture 2" descr="Figure4_Coefficient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Figure 5: Sensitivity of P(God) to β_EV</a:t>
            </a:r>
          </a:p>
        </p:txBody>
      </p:sp>
      <p:pic>
        <p:nvPicPr>
          <p:cNvPr id="3" name="Picture 2" descr="Figure5_Beta_EV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Figure 6: Model Flow Diagram</a:t>
            </a:r>
          </a:p>
        </p:txBody>
      </p:sp>
      <p:pic>
        <p:nvPicPr>
          <p:cNvPr id="3" name="Picture 2" descr="Figure6_Model_Flow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2895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Figure 7: P(God) as Function of FT and NE</a:t>
            </a:r>
          </a:p>
        </p:txBody>
      </p:sp>
      <p:pic>
        <p:nvPicPr>
          <p:cNvPr id="3" name="Picture 2" descr="Figure7_PGod_Surface_FT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Figure 8: Bayes Factor Heatmap by Scenario</a:t>
            </a:r>
          </a:p>
        </p:txBody>
      </p:sp>
      <p:pic>
        <p:nvPicPr>
          <p:cNvPr id="3" name="Picture 2" descr="Figure8_BayesFactor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29260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281</Words>
  <Application>Microsoft Macintosh PowerPoint</Application>
  <PresentationFormat>On-screen Show (4:3)</PresentationFormat>
  <Paragraphs>29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The Evidence for God</vt:lpstr>
      <vt:lpstr>Objective</vt:lpstr>
      <vt:lpstr>Model Structure</vt:lpstr>
      <vt:lpstr>Monte Carlo Results – Main Model (EV Neutral)</vt:lpstr>
      <vt:lpstr>Figure 1: Posterior Probability Distribution (Main Model)</vt:lpstr>
      <vt:lpstr>Appendix C – Moral Evil as Negative Evidence</vt:lpstr>
      <vt:lpstr>Figure 3: Comparison – EV Neutral vs. EV Negative</vt:lpstr>
      <vt:lpstr>Figure 2: Decision Tree — Evidence Paths</vt:lpstr>
      <vt:lpstr>Figure 4: Variable Sensitivity</vt:lpstr>
      <vt:lpstr>Figure 5: Sensitivity of P(God) to β_EV</vt:lpstr>
      <vt:lpstr>Figure 6: Model Flow Diagram</vt:lpstr>
      <vt:lpstr>Figure 7: P(God) as Function of FT and NE</vt:lpstr>
      <vt:lpstr>Figure 8: Bayes Factor Heatmap by Scenario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MANNY cadena</cp:lastModifiedBy>
  <cp:revision>2</cp:revision>
  <dcterms:created xsi:type="dcterms:W3CDTF">2013-01-27T09:14:16Z</dcterms:created>
  <dcterms:modified xsi:type="dcterms:W3CDTF">2025-05-13T04:10:26Z</dcterms:modified>
  <cp:category/>
</cp:coreProperties>
</file>